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9" r:id="rId5"/>
  </p:sldMasterIdLst>
  <p:notesMasterIdLst>
    <p:notesMasterId r:id="rId16"/>
  </p:notesMasterIdLst>
  <p:sldIdLst>
    <p:sldId id="256" r:id="rId6"/>
    <p:sldId id="261" r:id="rId7"/>
    <p:sldId id="257" r:id="rId8"/>
    <p:sldId id="273" r:id="rId9"/>
    <p:sldId id="266" r:id="rId10"/>
    <p:sldId id="267" r:id="rId11"/>
    <p:sldId id="268" r:id="rId12"/>
    <p:sldId id="258" r:id="rId13"/>
    <p:sldId id="269" r:id="rId14"/>
    <p:sldId id="264" r:id="rId1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6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Stijl, lich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Stijl, gemiddeld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414" autoAdjust="0"/>
  </p:normalViewPr>
  <p:slideViewPr>
    <p:cSldViewPr snapToGrid="0">
      <p:cViewPr varScale="1">
        <p:scale>
          <a:sx n="92" d="100"/>
          <a:sy n="92" d="100"/>
        </p:scale>
        <p:origin x="1314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6C1A7-16F4-49DF-9148-2513F81836E6}" type="datetimeFigureOut">
              <a:rPr lang="nl-NL" smtClean="0"/>
              <a:t>10-7-2026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58B54-81EE-4808-ACED-8E793E1A00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71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58B54-81EE-4808-ACED-8E793E1A002D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5130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58B54-81EE-4808-ACED-8E793E1A002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5257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58B54-81EE-4808-ACED-8E793E1A002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324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E62C3-B3F6-37A4-5494-D1CD9CB2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B703DEF-3086-AF61-0060-B4D9598C8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9FACFC5-DEA7-1260-A73D-C2B5AAC4D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C064925-1ECB-F8F0-8427-1F409F217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58B54-81EE-4808-ACED-8E793E1A002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3320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b="1" dirty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58B54-81EE-4808-ACED-8E793E1A002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2925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58B54-81EE-4808-ACED-8E793E1A002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0790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44588-DAF8-51D0-8C74-F3709ECB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8813C1C-D0D1-D6F6-4D28-35A1C66D7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8C57FAA-018C-0263-6A44-7FEE7E89A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245C83F-8EC2-C209-451D-67BC729B9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58B54-81EE-4808-ACED-8E793E1A002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4421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58B54-81EE-4808-ACED-8E793E1A002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1622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58B54-81EE-4808-ACED-8E793E1A002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4764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3DE4C162-1717-0903-2989-9716D62FC7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E44CD2-B37D-2A94-4583-360910C3A1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9587" y="4751749"/>
            <a:ext cx="11240577" cy="966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dirty="0"/>
              <a:t>Een titel voor de presentatie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EB59AAE-A5E1-7D5E-49B2-C5E300780D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587" y="6032771"/>
            <a:ext cx="11240577" cy="5478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dirty="0"/>
              <a:t>En hier kan een ondertitel (of niet)</a:t>
            </a:r>
          </a:p>
        </p:txBody>
      </p:sp>
    </p:spTree>
    <p:extLst>
      <p:ext uri="{BB962C8B-B14F-4D97-AF65-F5344CB8AC3E}">
        <p14:creationId xmlns:p14="http://schemas.microsoft.com/office/powerpoint/2010/main" val="1087415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dia met beeld link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Afbeelding met Menselijk gezicht, persoon, kleding, glimlach&#10;&#10;Automatisch gegenereerde beschrijving">
            <a:extLst>
              <a:ext uri="{FF2B5EF4-FFF2-40B4-BE49-F238E27FC236}">
                <a16:creationId xmlns:a16="http://schemas.microsoft.com/office/drawing/2014/main" id="{C826F94A-C4B4-D2A9-2968-C088DE8763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jdelijke aanduiding voor tekst 11">
            <a:extLst>
              <a:ext uri="{FF2B5EF4-FFF2-40B4-BE49-F238E27FC236}">
                <a16:creationId xmlns:a16="http://schemas.microsoft.com/office/drawing/2014/main" id="{A6C1DC0E-D658-015E-A881-ED4434B4B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2305" y="560888"/>
            <a:ext cx="6903663" cy="8706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dirty="0"/>
              <a:t>Titel slide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EA30EF1-CCD0-E752-AB2B-5DBEC488A3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2304" y="1992474"/>
            <a:ext cx="6903663" cy="45634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97766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dia met beeld rech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Afbeelding met persoon, kleding, Menselijk gezicht, trui&#10;&#10;Automatisch gegenereerde beschrijving">
            <a:extLst>
              <a:ext uri="{FF2B5EF4-FFF2-40B4-BE49-F238E27FC236}">
                <a16:creationId xmlns:a16="http://schemas.microsoft.com/office/drawing/2014/main" id="{16E0C13A-0E0A-779E-0DEC-850A8481C3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jdelijke aanduiding voor tekst 11">
            <a:extLst>
              <a:ext uri="{FF2B5EF4-FFF2-40B4-BE49-F238E27FC236}">
                <a16:creationId xmlns:a16="http://schemas.microsoft.com/office/drawing/2014/main" id="{CB5CD5E2-00A6-9775-93FE-33628517E5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802" y="553548"/>
            <a:ext cx="6903663" cy="8706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dirty="0"/>
              <a:t>Titel slide</a:t>
            </a:r>
          </a:p>
        </p:txBody>
      </p:sp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DF8C1374-42E1-CA6E-1A38-87C663C5C1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803" y="1828802"/>
            <a:ext cx="6903663" cy="45634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91482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dia met bee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 descr="Afbeelding met Menselijk gezicht, persoon, portret, kleding&#10;&#10;Automatisch gegenereerde beschrijving">
            <a:extLst>
              <a:ext uri="{FF2B5EF4-FFF2-40B4-BE49-F238E27FC236}">
                <a16:creationId xmlns:a16="http://schemas.microsoft.com/office/drawing/2014/main" id="{79FDF548-D397-6C9D-ACDA-B042B7E054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jdelijke aanduiding voor tekst 2">
            <a:extLst>
              <a:ext uri="{FF2B5EF4-FFF2-40B4-BE49-F238E27FC236}">
                <a16:creationId xmlns:a16="http://schemas.microsoft.com/office/drawing/2014/main" id="{B5A28B88-2F58-48DC-27EA-72132F5A75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3799" y="1982626"/>
            <a:ext cx="6903663" cy="45634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9" name="Tijdelijke aanduiding voor tekst 11">
            <a:extLst>
              <a:ext uri="{FF2B5EF4-FFF2-40B4-BE49-F238E27FC236}">
                <a16:creationId xmlns:a16="http://schemas.microsoft.com/office/drawing/2014/main" id="{FE338D2D-178D-F95F-9A1D-85D0342F8C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43799" y="555964"/>
            <a:ext cx="6903663" cy="8706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dirty="0"/>
              <a:t>Titel slide</a:t>
            </a:r>
          </a:p>
        </p:txBody>
      </p:sp>
    </p:spTree>
    <p:extLst>
      <p:ext uri="{BB962C8B-B14F-4D97-AF65-F5344CB8AC3E}">
        <p14:creationId xmlns:p14="http://schemas.microsoft.com/office/powerpoint/2010/main" val="3481838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dia met beeld rech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Menselijk gezicht, persoon, Dreadlocks, vrouw&#10;&#10;Automatisch gegenereerde beschrijving">
            <a:extLst>
              <a:ext uri="{FF2B5EF4-FFF2-40B4-BE49-F238E27FC236}">
                <a16:creationId xmlns:a16="http://schemas.microsoft.com/office/drawing/2014/main" id="{A9F38538-058F-07D5-F02B-29ACAD7427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jdelijke aanduiding voor tekst 11">
            <a:extLst>
              <a:ext uri="{FF2B5EF4-FFF2-40B4-BE49-F238E27FC236}">
                <a16:creationId xmlns:a16="http://schemas.microsoft.com/office/drawing/2014/main" id="{9BE195CA-F500-3AF4-A65B-23DC98D06A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804" y="647551"/>
            <a:ext cx="6903663" cy="8706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dirty="0"/>
              <a:t>Titel slide</a:t>
            </a:r>
          </a:p>
        </p:txBody>
      </p:sp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199CA1EA-C3F0-B2F5-4E00-C722DABDC0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803" y="1828802"/>
            <a:ext cx="6903663" cy="45634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9547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dia met beeld rech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Menselijk gezicht, persoon, portret, kleding&#10;&#10;Automatisch gegenereerde beschrijving">
            <a:extLst>
              <a:ext uri="{FF2B5EF4-FFF2-40B4-BE49-F238E27FC236}">
                <a16:creationId xmlns:a16="http://schemas.microsoft.com/office/drawing/2014/main" id="{74120E36-B903-5BEC-EED9-A4A64EE645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jdelijke aanduiding voor tekst 11">
            <a:extLst>
              <a:ext uri="{FF2B5EF4-FFF2-40B4-BE49-F238E27FC236}">
                <a16:creationId xmlns:a16="http://schemas.microsoft.com/office/drawing/2014/main" id="{FA85A67C-2333-53B9-0491-71C893C0EB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57481" y="571701"/>
            <a:ext cx="6903663" cy="8706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dirty="0"/>
              <a:t>Titel slide</a:t>
            </a: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B6A5902E-D000-A608-4AF9-43ACCF87E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7481" y="2005557"/>
            <a:ext cx="6903663" cy="45634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23750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dia met bee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Menselijk gezicht, kleding, persoon, vrouw&#10;&#10;Automatisch gegenereerde beschrijving">
            <a:extLst>
              <a:ext uri="{FF2B5EF4-FFF2-40B4-BE49-F238E27FC236}">
                <a16:creationId xmlns:a16="http://schemas.microsoft.com/office/drawing/2014/main" id="{3424C721-DBA3-DA77-0732-27D55E21DC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4C6B68B-7D50-388B-D52D-E297BA4997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1844" y="1884832"/>
            <a:ext cx="6903663" cy="45634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6" name="Tijdelijke aanduiding voor tekst 11">
            <a:extLst>
              <a:ext uri="{FF2B5EF4-FFF2-40B4-BE49-F238E27FC236}">
                <a16:creationId xmlns:a16="http://schemas.microsoft.com/office/drawing/2014/main" id="{D05760AF-AEC0-395B-9300-3F13E697E0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1844" y="553143"/>
            <a:ext cx="6903663" cy="8706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dirty="0"/>
              <a:t>Titel slide</a:t>
            </a:r>
          </a:p>
        </p:txBody>
      </p:sp>
    </p:spTree>
    <p:extLst>
      <p:ext uri="{BB962C8B-B14F-4D97-AF65-F5344CB8AC3E}">
        <p14:creationId xmlns:p14="http://schemas.microsoft.com/office/powerpoint/2010/main" val="2058626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dia zonder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981620AF-E022-960E-9FFF-D7A543AEBB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41C94832-FA17-E074-AE41-ED99EFA635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804" y="613045"/>
            <a:ext cx="10947460" cy="8706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dirty="0"/>
              <a:t>Titel slide</a:t>
            </a:r>
          </a:p>
        </p:txBody>
      </p:sp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9EF03C60-ADF3-7B7C-3405-67AEB2B582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803" y="1828802"/>
            <a:ext cx="10947460" cy="45634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06516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f-slide met tekstmogelijkhe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Menselijk gezicht, persoon, kleding, Modeaccessoire&#10;&#10;Automatisch gegenereerde beschrijving">
            <a:extLst>
              <a:ext uri="{FF2B5EF4-FFF2-40B4-BE49-F238E27FC236}">
                <a16:creationId xmlns:a16="http://schemas.microsoft.com/office/drawing/2014/main" id="{2B08129A-D7F2-1113-5334-0E26E0D20B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jdelijke aanduiding voor tekst 11">
            <a:extLst>
              <a:ext uri="{FF2B5EF4-FFF2-40B4-BE49-F238E27FC236}">
                <a16:creationId xmlns:a16="http://schemas.microsoft.com/office/drawing/2014/main" id="{188F3321-E6A1-C81B-0607-2EE0D4EBB9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501" y="536053"/>
            <a:ext cx="6903663" cy="8706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l-NL" dirty="0"/>
              <a:t>Titel slide</a:t>
            </a:r>
          </a:p>
        </p:txBody>
      </p:sp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2C2BE04F-1AF2-4EED-156A-FD95FE2E1F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5500" y="1816466"/>
            <a:ext cx="6903663" cy="45634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A62A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07968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rnwaard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 descr="Afbeelding met tekst, persoon, dragen, kleding&#10;&#10;Automatisch gegenereerde beschrijving">
            <a:extLst>
              <a:ext uri="{FF2B5EF4-FFF2-40B4-BE49-F238E27FC236}">
                <a16:creationId xmlns:a16="http://schemas.microsoft.com/office/drawing/2014/main" id="{920C7481-08B8-D686-ECE3-AA1BBD58AD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Afbeelding 9" descr="Afbeelding met tekst&#10;&#10;Automatisch gegenereerde beschrijving">
            <a:extLst>
              <a:ext uri="{FF2B5EF4-FFF2-40B4-BE49-F238E27FC236}">
                <a16:creationId xmlns:a16="http://schemas.microsoft.com/office/drawing/2014/main" id="{67E23B48-8920-503B-704A-0281FA039C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68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n reflectie naar rich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 descr="Afbeelding met tekst, persoon, person&#10;&#10;Automatisch gegenereerde beschrijving">
            <a:extLst>
              <a:ext uri="{FF2B5EF4-FFF2-40B4-BE49-F238E27FC236}">
                <a16:creationId xmlns:a16="http://schemas.microsoft.com/office/drawing/2014/main" id="{BBEC3ED4-DE42-C5AA-6239-3A584F512C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Afbeelding 12" descr="Afbeelding met tekst&#10;&#10;Automatisch gegenereerde beschrijving">
            <a:extLst>
              <a:ext uri="{FF2B5EF4-FFF2-40B4-BE49-F238E27FC236}">
                <a16:creationId xmlns:a16="http://schemas.microsoft.com/office/drawing/2014/main" id="{32EFECF3-2B08-32F1-C0FA-1A7F2F217E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5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ze belof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Afbeelding met tekst, persoon, kleding, sjaaltje&#10;&#10;Automatisch gegenereerde beschrijving">
            <a:extLst>
              <a:ext uri="{FF2B5EF4-FFF2-40B4-BE49-F238E27FC236}">
                <a16:creationId xmlns:a16="http://schemas.microsoft.com/office/drawing/2014/main" id="{4EBB5597-D47E-0C72-E4FD-E96D732922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Afbeelding 8" descr="Afbeelding met tekst&#10;&#10;Automatisch gegenereerde beschrijving">
            <a:extLst>
              <a:ext uri="{FF2B5EF4-FFF2-40B4-BE49-F238E27FC236}">
                <a16:creationId xmlns:a16="http://schemas.microsoft.com/office/drawing/2014/main" id="{634D5A02-68EB-5085-2AA6-A1784C2203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4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 descr="Afbeelding met tekst, persoon, poseren&#10;&#10;Automatisch gegenereerde beschrijving">
            <a:extLst>
              <a:ext uri="{FF2B5EF4-FFF2-40B4-BE49-F238E27FC236}">
                <a16:creationId xmlns:a16="http://schemas.microsoft.com/office/drawing/2014/main" id="{B7F8697B-1A43-BC25-E319-8163DF773B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30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08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  <p:sldLayoutId id="2147483686" r:id="rId3"/>
    <p:sldLayoutId id="2147483662" r:id="rId4"/>
    <p:sldLayoutId id="2147483685" r:id="rId5"/>
    <p:sldLayoutId id="2147483683" r:id="rId6"/>
    <p:sldLayoutId id="2147483687" r:id="rId7"/>
    <p:sldLayoutId id="2147483660" r:id="rId8"/>
    <p:sldLayoutId id="214748366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63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7" r:id="rId2"/>
    <p:sldLayoutId id="2147483667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DF56FB9A-111F-0007-2E1D-A8768812E8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2509" y="4762140"/>
            <a:ext cx="12604172" cy="966488"/>
          </a:xfrm>
        </p:spPr>
        <p:txBody>
          <a:bodyPr/>
          <a:lstStyle/>
          <a:p>
            <a:r>
              <a:rPr lang="nl-NL" sz="4800" dirty="0"/>
              <a:t>Voorspellingsmodel:</a:t>
            </a:r>
          </a:p>
          <a:p>
            <a:r>
              <a:rPr lang="nl-NL" sz="4800" dirty="0"/>
              <a:t>Doorstroom en uitstroom </a:t>
            </a:r>
          </a:p>
          <a:p>
            <a:r>
              <a:rPr lang="nl-NL" sz="3600" b="0" dirty="0"/>
              <a:t>Toepassing van een Markov Chain-model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74153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F2634AE-F3C3-D3C2-8E8E-A8F0FFAEEB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65852" y="571701"/>
            <a:ext cx="6903663" cy="870698"/>
          </a:xfrm>
        </p:spPr>
        <p:txBody>
          <a:bodyPr/>
          <a:lstStyle/>
          <a:p>
            <a:r>
              <a:rPr lang="nl-NL" dirty="0" err="1"/>
              <a:t>Npulse</a:t>
            </a:r>
            <a:r>
              <a:rPr lang="nl-NL" dirty="0"/>
              <a:t> - </a:t>
            </a:r>
            <a:r>
              <a:rPr lang="nl-NL" dirty="0" err="1"/>
              <a:t>Ceda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DB8E3CC-27A2-86BF-0865-59EC1FD939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65852" y="1722846"/>
            <a:ext cx="7686919" cy="4563453"/>
          </a:xfrm>
        </p:spPr>
        <p:txBody>
          <a:bodyPr/>
          <a:lstStyle/>
          <a:p>
            <a:pPr marL="0" indent="0">
              <a:buNone/>
            </a:pPr>
            <a:r>
              <a:rPr lang="nl-NL" b="1" dirty="0"/>
              <a:t>CEDA</a:t>
            </a:r>
            <a:r>
              <a:rPr lang="nl-NL" dirty="0"/>
              <a:t> (Center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Educational</a:t>
            </a:r>
            <a:r>
              <a:rPr lang="nl-NL" dirty="0"/>
              <a:t> Data Analytics)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Het doel van CEDA is om door middel van </a:t>
            </a:r>
            <a:r>
              <a:rPr lang="nl-NL" b="1" dirty="0"/>
              <a:t>co-creatie</a:t>
            </a:r>
            <a:r>
              <a:rPr lang="nl-NL" dirty="0"/>
              <a:t> met het mbo, hbo en wo sneller van data naar betrouwbare inzichten te komen. Zodat onderwijsinstellingen in een steeds sneller veranderende wereld toch </a:t>
            </a:r>
            <a:r>
              <a:rPr lang="nl-NL" b="1" dirty="0"/>
              <a:t>grip op de toekomst</a:t>
            </a:r>
            <a:r>
              <a:rPr lang="nl-NL" dirty="0"/>
              <a:t> houden.</a:t>
            </a:r>
          </a:p>
        </p:txBody>
      </p:sp>
    </p:spTree>
    <p:extLst>
      <p:ext uri="{BB962C8B-B14F-4D97-AF65-F5344CB8AC3E}">
        <p14:creationId xmlns:p14="http://schemas.microsoft.com/office/powerpoint/2010/main" val="2090784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0857FDCE-3F5F-1BFF-F30A-8B111F58E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5789" y="217988"/>
            <a:ext cx="8146211" cy="870698"/>
          </a:xfrm>
        </p:spPr>
        <p:txBody>
          <a:bodyPr/>
          <a:lstStyle/>
          <a:p>
            <a:r>
              <a:rPr lang="nl-NL" sz="5400" dirty="0"/>
              <a:t>Van Registratie naar Voorspelling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7440FC1-C56E-33F1-DB4C-5E5B94F171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14800" y="2225615"/>
            <a:ext cx="7471167" cy="4330312"/>
          </a:xfrm>
        </p:spPr>
        <p:txBody>
          <a:bodyPr/>
          <a:lstStyle/>
          <a:p>
            <a:pPr marL="0" indent="0">
              <a:buNone/>
            </a:pPr>
            <a:r>
              <a:rPr lang="nl-NL" b="1" dirty="0"/>
              <a:t>Elke onderwijsinstelling beschikt over gegevens over:</a:t>
            </a:r>
          </a:p>
          <a:p>
            <a:r>
              <a:rPr lang="nl-NL" dirty="0"/>
              <a:t>Instroom</a:t>
            </a:r>
          </a:p>
          <a:p>
            <a:r>
              <a:rPr lang="nl-NL" dirty="0"/>
              <a:t>Doorstroom</a:t>
            </a:r>
          </a:p>
          <a:p>
            <a:r>
              <a:rPr lang="nl-NL" dirty="0"/>
              <a:t>Uitstroom met of zonder diploma 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Hoe zetten we historische studentgegevens om in een betrouwbare voorspelling van toekomstige studentaantallen?</a:t>
            </a:r>
          </a:p>
        </p:txBody>
      </p:sp>
    </p:spTree>
    <p:extLst>
      <p:ext uri="{BB962C8B-B14F-4D97-AF65-F5344CB8AC3E}">
        <p14:creationId xmlns:p14="http://schemas.microsoft.com/office/powerpoint/2010/main" val="96194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1CBA4-8D5A-0163-DA09-FC5DF8B0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EEB56ABE-288F-3AA8-F351-74200E9510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5789" y="217988"/>
            <a:ext cx="8146211" cy="870698"/>
          </a:xfrm>
        </p:spPr>
        <p:txBody>
          <a:bodyPr/>
          <a:lstStyle/>
          <a:p>
            <a:r>
              <a:rPr lang="nl-NL" sz="5400" dirty="0"/>
              <a:t>Welke data heb ik gebruikt?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0BE65CC-F444-D299-3F94-F3D2819D08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14800" y="2225615"/>
            <a:ext cx="7471167" cy="4330312"/>
          </a:xfrm>
        </p:spPr>
        <p:txBody>
          <a:bodyPr/>
          <a:lstStyle/>
          <a:p>
            <a:r>
              <a:rPr lang="nl-NL" b="1" dirty="0"/>
              <a:t> Begindatum</a:t>
            </a:r>
          </a:p>
          <a:p>
            <a:r>
              <a:rPr lang="nl-NL" b="1" dirty="0"/>
              <a:t> Einddatum</a:t>
            </a:r>
          </a:p>
          <a:p>
            <a:r>
              <a:rPr lang="nl-NL" b="1" dirty="0"/>
              <a:t> Deelnemernummer</a:t>
            </a:r>
          </a:p>
          <a:p>
            <a:r>
              <a:rPr lang="nl-NL" b="1" dirty="0"/>
              <a:t> Verbintenisvolgnummer </a:t>
            </a:r>
          </a:p>
        </p:txBody>
      </p:sp>
    </p:spTree>
    <p:extLst>
      <p:ext uri="{BB962C8B-B14F-4D97-AF65-F5344CB8AC3E}">
        <p14:creationId xmlns:p14="http://schemas.microsoft.com/office/powerpoint/2010/main" val="1626877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CA7D494-2E8B-A84C-5756-737872817B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 sz="4800" dirty="0"/>
              <a:t>Wat is een </a:t>
            </a:r>
            <a:r>
              <a:rPr lang="nl-NL" sz="4800" dirty="0" err="1"/>
              <a:t>markov</a:t>
            </a:r>
            <a:r>
              <a:rPr lang="nl-NL" sz="4800" dirty="0"/>
              <a:t> chain?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46413E8-629D-22FE-9385-28011FBE00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Een </a:t>
            </a:r>
            <a:r>
              <a:rPr lang="nl-NL" dirty="0" err="1"/>
              <a:t>Markov</a:t>
            </a:r>
            <a:r>
              <a:rPr lang="nl-NL" dirty="0"/>
              <a:t> Chain beschrijft hoe mensen, processen of systemen zich stap voor stap verplaatsen tussen verschillende toestanden, inclusief de kans op elke volgende stap.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Om de volgende stap te voorspellen, kijkt een </a:t>
            </a:r>
            <a:r>
              <a:rPr lang="nl-NL" dirty="0" err="1"/>
              <a:t>Markov</a:t>
            </a:r>
            <a:r>
              <a:rPr lang="nl-NL" dirty="0"/>
              <a:t> Chain alleen naar huidige toestand.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2976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5C74976A-9337-87F9-4A10-264C598300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8803" y="453519"/>
            <a:ext cx="10947460" cy="870698"/>
          </a:xfrm>
        </p:spPr>
        <p:txBody>
          <a:bodyPr/>
          <a:lstStyle/>
          <a:p>
            <a:r>
              <a:rPr lang="nl-NL" dirty="0"/>
              <a:t>Voorbeeld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88B82C4-4AEF-3702-A135-C05C887ADC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Vandaag: ☀️ Zon</a:t>
            </a:r>
          </a:p>
          <a:p>
            <a:pPr marL="0" indent="0">
              <a:buNone/>
            </a:pPr>
            <a:r>
              <a:rPr lang="nl-NL" dirty="0"/>
              <a:t>Morgen:</a:t>
            </a:r>
          </a:p>
          <a:p>
            <a:r>
              <a:rPr lang="nl-NL" dirty="0"/>
              <a:t>80% kans op zon </a:t>
            </a:r>
          </a:p>
          <a:p>
            <a:r>
              <a:rPr lang="nl-NL" dirty="0"/>
              <a:t>20% kans op regen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Vandaag: 🌧️ Regen</a:t>
            </a:r>
          </a:p>
          <a:p>
            <a:r>
              <a:rPr lang="nl-NL" dirty="0"/>
              <a:t>Morgen:</a:t>
            </a:r>
          </a:p>
          <a:p>
            <a:r>
              <a:rPr lang="nl-NL" dirty="0"/>
              <a:t>40% kans op zon </a:t>
            </a:r>
          </a:p>
          <a:p>
            <a:r>
              <a:rPr lang="nl-NL" dirty="0"/>
              <a:t>60% kans op regen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grpSp>
        <p:nvGrpSpPr>
          <p:cNvPr id="24" name="Groep 23">
            <a:extLst>
              <a:ext uri="{FF2B5EF4-FFF2-40B4-BE49-F238E27FC236}">
                <a16:creationId xmlns:a16="http://schemas.microsoft.com/office/drawing/2014/main" id="{3D2B95DC-2028-5C29-8AD3-7C1382D832E9}"/>
              </a:ext>
            </a:extLst>
          </p:cNvPr>
          <p:cNvGrpSpPr/>
          <p:nvPr/>
        </p:nvGrpSpPr>
        <p:grpSpPr>
          <a:xfrm>
            <a:off x="5281195" y="377490"/>
            <a:ext cx="6788976" cy="3578568"/>
            <a:chOff x="5281195" y="377490"/>
            <a:chExt cx="6788976" cy="3578568"/>
          </a:xfrm>
        </p:grpSpPr>
        <p:sp>
          <p:nvSpPr>
            <p:cNvPr id="17" name="Tekstvak 16">
              <a:extLst>
                <a:ext uri="{FF2B5EF4-FFF2-40B4-BE49-F238E27FC236}">
                  <a16:creationId xmlns:a16="http://schemas.microsoft.com/office/drawing/2014/main" id="{6F1DC8F0-EE2F-9179-31BC-2F3A60E9FBD3}"/>
                </a:ext>
              </a:extLst>
            </p:cNvPr>
            <p:cNvSpPr txBox="1"/>
            <p:nvPr/>
          </p:nvSpPr>
          <p:spPr>
            <a:xfrm>
              <a:off x="11168760" y="1513496"/>
              <a:ext cx="90141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nl-NL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60% </a:t>
              </a:r>
            </a:p>
          </p:txBody>
        </p:sp>
        <p:sp>
          <p:nvSpPr>
            <p:cNvPr id="4" name="Ruit 3">
              <a:extLst>
                <a:ext uri="{FF2B5EF4-FFF2-40B4-BE49-F238E27FC236}">
                  <a16:creationId xmlns:a16="http://schemas.microsoft.com/office/drawing/2014/main" id="{4F07BB33-80A4-F50D-1B82-1373BD0ECD32}"/>
                </a:ext>
              </a:extLst>
            </p:cNvPr>
            <p:cNvSpPr/>
            <p:nvPr/>
          </p:nvSpPr>
          <p:spPr>
            <a:xfrm>
              <a:off x="9341815" y="1729377"/>
              <a:ext cx="1450110" cy="840509"/>
            </a:xfrm>
            <a:prstGeom prst="diamond">
              <a:avLst/>
            </a:prstGeom>
            <a:solidFill>
              <a:schemeClr val="accent1">
                <a:alpha val="62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32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🌧️</a:t>
              </a:r>
              <a:endParaRPr lang="nl-NL" sz="3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" name="Ruit 4">
              <a:extLst>
                <a:ext uri="{FF2B5EF4-FFF2-40B4-BE49-F238E27FC236}">
                  <a16:creationId xmlns:a16="http://schemas.microsoft.com/office/drawing/2014/main" id="{C16B99E5-D0FC-EFFE-05BD-E0B29911A3BD}"/>
                </a:ext>
              </a:extLst>
            </p:cNvPr>
            <p:cNvSpPr/>
            <p:nvPr/>
          </p:nvSpPr>
          <p:spPr>
            <a:xfrm>
              <a:off x="6530110" y="1737960"/>
              <a:ext cx="1450110" cy="840509"/>
            </a:xfrm>
            <a:prstGeom prst="diamond">
              <a:avLst/>
            </a:prstGeom>
            <a:solidFill>
              <a:schemeClr val="accent1">
                <a:alpha val="62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3200" dirty="0"/>
                <a:t>☀️</a:t>
              </a:r>
              <a:endParaRPr lang="nl-NL" sz="3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" name="Pijl: gekromd omlaag 5">
              <a:extLst>
                <a:ext uri="{FF2B5EF4-FFF2-40B4-BE49-F238E27FC236}">
                  <a16:creationId xmlns:a16="http://schemas.microsoft.com/office/drawing/2014/main" id="{2CC62E4E-BEC5-38AC-6436-511BFF980AF1}"/>
                </a:ext>
              </a:extLst>
            </p:cNvPr>
            <p:cNvSpPr/>
            <p:nvPr/>
          </p:nvSpPr>
          <p:spPr>
            <a:xfrm>
              <a:off x="7120083" y="888868"/>
              <a:ext cx="3177309" cy="840509"/>
            </a:xfrm>
            <a:prstGeom prst="curved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sp>
          <p:nvSpPr>
            <p:cNvPr id="8" name="Pijl: gekromd omlaag 7">
              <a:extLst>
                <a:ext uri="{FF2B5EF4-FFF2-40B4-BE49-F238E27FC236}">
                  <a16:creationId xmlns:a16="http://schemas.microsoft.com/office/drawing/2014/main" id="{CB9A466E-92F6-3A49-C2EC-825531FB5144}"/>
                </a:ext>
              </a:extLst>
            </p:cNvPr>
            <p:cNvSpPr/>
            <p:nvPr/>
          </p:nvSpPr>
          <p:spPr>
            <a:xfrm flipH="1" flipV="1">
              <a:off x="7120082" y="2587052"/>
              <a:ext cx="3177309" cy="840509"/>
            </a:xfrm>
            <a:prstGeom prst="curved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56D3C245-44E4-F3A8-69D4-4EEDCE7A898B}"/>
                </a:ext>
              </a:extLst>
            </p:cNvPr>
            <p:cNvSpPr txBox="1"/>
            <p:nvPr/>
          </p:nvSpPr>
          <p:spPr>
            <a:xfrm>
              <a:off x="5281195" y="1505531"/>
              <a:ext cx="90141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nl-NL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 </a:t>
              </a:r>
            </a:p>
          </p:txBody>
        </p:sp>
        <p:sp>
          <p:nvSpPr>
            <p:cNvPr id="16" name="Pijl: draaiend 15">
              <a:extLst>
                <a:ext uri="{FF2B5EF4-FFF2-40B4-BE49-F238E27FC236}">
                  <a16:creationId xmlns:a16="http://schemas.microsoft.com/office/drawing/2014/main" id="{761079C9-CFEC-D91A-77FD-678F8BE0388D}"/>
                </a:ext>
              </a:extLst>
            </p:cNvPr>
            <p:cNvSpPr/>
            <p:nvPr/>
          </p:nvSpPr>
          <p:spPr>
            <a:xfrm rot="16200000">
              <a:off x="6109383" y="1227470"/>
              <a:ext cx="823345" cy="1861485"/>
            </a:xfrm>
            <a:prstGeom prst="circularArrow">
              <a:avLst>
                <a:gd name="adj1" fmla="val 12500"/>
                <a:gd name="adj2" fmla="val 3170274"/>
                <a:gd name="adj3" fmla="val 20457681"/>
                <a:gd name="adj4" fmla="val 7156084"/>
                <a:gd name="adj5" fmla="val 2435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sp>
          <p:nvSpPr>
            <p:cNvPr id="19" name="Pijl: draaiend 18">
              <a:extLst>
                <a:ext uri="{FF2B5EF4-FFF2-40B4-BE49-F238E27FC236}">
                  <a16:creationId xmlns:a16="http://schemas.microsoft.com/office/drawing/2014/main" id="{1AA5BD38-76DF-819E-5893-C44CBB022FF9}"/>
                </a:ext>
              </a:extLst>
            </p:cNvPr>
            <p:cNvSpPr/>
            <p:nvPr/>
          </p:nvSpPr>
          <p:spPr>
            <a:xfrm rot="5400000" flipH="1">
              <a:off x="10380252" y="1225259"/>
              <a:ext cx="823345" cy="1861485"/>
            </a:xfrm>
            <a:prstGeom prst="circularArrow">
              <a:avLst>
                <a:gd name="adj1" fmla="val 12500"/>
                <a:gd name="adj2" fmla="val 3170274"/>
                <a:gd name="adj3" fmla="val 20457681"/>
                <a:gd name="adj4" fmla="val 7156084"/>
                <a:gd name="adj5" fmla="val 2435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sp>
          <p:nvSpPr>
            <p:cNvPr id="20" name="Tekstvak 19">
              <a:extLst>
                <a:ext uri="{FF2B5EF4-FFF2-40B4-BE49-F238E27FC236}">
                  <a16:creationId xmlns:a16="http://schemas.microsoft.com/office/drawing/2014/main" id="{590C03FD-BB3F-D7FE-1A82-22CB45218DA9}"/>
                </a:ext>
              </a:extLst>
            </p:cNvPr>
            <p:cNvSpPr txBox="1"/>
            <p:nvPr/>
          </p:nvSpPr>
          <p:spPr>
            <a:xfrm>
              <a:off x="8258030" y="377490"/>
              <a:ext cx="90141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nl-NL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 </a:t>
              </a:r>
            </a:p>
          </p:txBody>
        </p:sp>
        <p:sp>
          <p:nvSpPr>
            <p:cNvPr id="21" name="Tekstvak 20">
              <a:extLst>
                <a:ext uri="{FF2B5EF4-FFF2-40B4-BE49-F238E27FC236}">
                  <a16:creationId xmlns:a16="http://schemas.microsoft.com/office/drawing/2014/main" id="{834D28AD-E291-CAE8-0B31-AD77D14BBD0F}"/>
                </a:ext>
              </a:extLst>
            </p:cNvPr>
            <p:cNvSpPr txBox="1"/>
            <p:nvPr/>
          </p:nvSpPr>
          <p:spPr>
            <a:xfrm>
              <a:off x="8258030" y="3494393"/>
              <a:ext cx="90141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nl-NL" sz="2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40% </a:t>
              </a:r>
            </a:p>
          </p:txBody>
        </p:sp>
      </p:grpSp>
      <p:graphicFrame>
        <p:nvGraphicFramePr>
          <p:cNvPr id="22" name="Tabel 21">
            <a:extLst>
              <a:ext uri="{FF2B5EF4-FFF2-40B4-BE49-F238E27FC236}">
                <a16:creationId xmlns:a16="http://schemas.microsoft.com/office/drawing/2014/main" id="{C4895190-8DF2-518A-D058-FE9662353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213818"/>
              </p:ext>
            </p:extLst>
          </p:nvPr>
        </p:nvGraphicFramePr>
        <p:xfrm>
          <a:off x="4896213" y="5010495"/>
          <a:ext cx="7101609" cy="1381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6237">
                  <a:extLst>
                    <a:ext uri="{9D8B030D-6E8A-4147-A177-3AD203B41FA5}">
                      <a16:colId xmlns:a16="http://schemas.microsoft.com/office/drawing/2014/main" val="173161589"/>
                    </a:ext>
                  </a:extLst>
                </a:gridCol>
                <a:gridCol w="2144568">
                  <a:extLst>
                    <a:ext uri="{9D8B030D-6E8A-4147-A177-3AD203B41FA5}">
                      <a16:colId xmlns:a16="http://schemas.microsoft.com/office/drawing/2014/main" val="2474554598"/>
                    </a:ext>
                  </a:extLst>
                </a:gridCol>
                <a:gridCol w="2192480">
                  <a:extLst>
                    <a:ext uri="{9D8B030D-6E8A-4147-A177-3AD203B41FA5}">
                      <a16:colId xmlns:a16="http://schemas.microsoft.com/office/drawing/2014/main" val="1132176648"/>
                    </a:ext>
                  </a:extLst>
                </a:gridCol>
                <a:gridCol w="1358324">
                  <a:extLst>
                    <a:ext uri="{9D8B030D-6E8A-4147-A177-3AD203B41FA5}">
                      <a16:colId xmlns:a16="http://schemas.microsoft.com/office/drawing/2014/main" val="2472877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Huidige toestand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Regen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Totaal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029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262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Regen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345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13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ABF71-D57C-7671-96EA-C0ACA89D4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43DB88B-80B4-C625-C385-E6792918F5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8248" y="197408"/>
            <a:ext cx="10947460" cy="870698"/>
          </a:xfrm>
        </p:spPr>
        <p:txBody>
          <a:bodyPr/>
          <a:lstStyle/>
          <a:p>
            <a:r>
              <a:rPr lang="nl-NL" sz="4800" dirty="0"/>
              <a:t>Waarom een </a:t>
            </a:r>
            <a:r>
              <a:rPr lang="nl-NL" sz="4800" dirty="0" err="1"/>
              <a:t>markov</a:t>
            </a:r>
            <a:r>
              <a:rPr lang="nl-NL" sz="4800" dirty="0"/>
              <a:t> chain?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7372E2D-60C4-ED47-6FF6-C261D8B486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1212272"/>
            <a:ext cx="7691970" cy="5645728"/>
          </a:xfrm>
        </p:spPr>
        <p:txBody>
          <a:bodyPr/>
          <a:lstStyle/>
          <a:p>
            <a:pPr marL="0" indent="0">
              <a:buNone/>
            </a:pPr>
            <a:r>
              <a:rPr lang="nl-NL" b="1" dirty="0"/>
              <a:t>Voordelen:</a:t>
            </a:r>
          </a:p>
          <a:p>
            <a:r>
              <a:rPr lang="nl-NL" sz="2400" dirty="0"/>
              <a:t>Eenvoudig en transparant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Makkelijk uit te leggen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Resultaten zijn goed te herleiden</a:t>
            </a:r>
          </a:p>
          <a:p>
            <a:r>
              <a:rPr lang="nl-NL" sz="2400" dirty="0"/>
              <a:t>Gebaseerd op historisch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Gebruikt bestaande registraties</a:t>
            </a:r>
          </a:p>
          <a:p>
            <a:r>
              <a:rPr lang="nl-NL" sz="2400" dirty="0"/>
              <a:t>Geschikt voor voorspelling op groepsniveau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Doorstroom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Uitstroom</a:t>
            </a:r>
          </a:p>
          <a:p>
            <a:r>
              <a:rPr lang="nl-NL" sz="2400" dirty="0"/>
              <a:t>Ondersteunt scenario-analyses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Wat gebeurt er als uitstroom daalt?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Wat gebeurt er als doorstroom stijgt?</a:t>
            </a:r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2C1F16EC-A8D2-8285-A8B1-AC4900D7DE8B}"/>
              </a:ext>
            </a:extLst>
          </p:cNvPr>
          <p:cNvSpPr txBox="1">
            <a:spLocks/>
          </p:cNvSpPr>
          <p:nvPr/>
        </p:nvSpPr>
        <p:spPr>
          <a:xfrm>
            <a:off x="6491621" y="1250371"/>
            <a:ext cx="6666734" cy="50622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A62A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A62A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A62A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A62A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A62A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b="1" dirty="0"/>
              <a:t>Nadelen:</a:t>
            </a:r>
          </a:p>
          <a:p>
            <a:r>
              <a:rPr lang="nl-NL" sz="2400" dirty="0"/>
              <a:t>Houdt beperkt rekening met individuele kenmerken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Leeftijd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Schoolresultaten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Sociaaleconomisch status</a:t>
            </a:r>
          </a:p>
          <a:p>
            <a:r>
              <a:rPr lang="nl-NL" sz="2400" dirty="0"/>
              <a:t>Gevoelig voor externe veranderingen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Nieuw beleid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Arbeidsmarktontwikkelingen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nl-NL" sz="2000" dirty="0"/>
              <a:t>Demografische veranderingen</a:t>
            </a:r>
          </a:p>
          <a:p>
            <a:pPr marL="457200" lvl="1" indent="0">
              <a:buNone/>
            </a:pPr>
            <a:endParaRPr lang="nl-NL" dirty="0"/>
          </a:p>
          <a:p>
            <a:pPr marL="0" indent="0">
              <a:buFont typeface="Arial" panose="020B0604020202020204" pitchFamily="34" charset="0"/>
              <a:buNone/>
            </a:pPr>
            <a:endParaRPr lang="nl-NL" dirty="0"/>
          </a:p>
          <a:p>
            <a:endParaRPr lang="nl-NL" dirty="0"/>
          </a:p>
          <a:p>
            <a:pPr marL="0" indent="0">
              <a:buFont typeface="Arial" panose="020B0604020202020204" pitchFamily="34" charset="0"/>
              <a:buNone/>
            </a:pPr>
            <a:endParaRPr lang="nl-NL" dirty="0"/>
          </a:p>
          <a:p>
            <a:pPr marL="0" indent="0">
              <a:buFont typeface="Arial" panose="020B0604020202020204" pitchFamily="34" charset="0"/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439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ADE56F7-25CA-10FC-7637-F29C1D5178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NL" sz="5400" dirty="0"/>
              <a:t>Doorstroom en uitstroom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EE1A41EC-8B25-8EE9-BEF5-1B953D64639E}"/>
              </a:ext>
            </a:extLst>
          </p:cNvPr>
          <p:cNvGrpSpPr/>
          <p:nvPr/>
        </p:nvGrpSpPr>
        <p:grpSpPr>
          <a:xfrm>
            <a:off x="279399" y="2317173"/>
            <a:ext cx="11607801" cy="3366654"/>
            <a:chOff x="154708" y="2500746"/>
            <a:chExt cx="10940481" cy="2863272"/>
          </a:xfrm>
        </p:grpSpPr>
        <p:sp>
          <p:nvSpPr>
            <p:cNvPr id="10" name="Rechthoek: afgeronde hoeken 9">
              <a:extLst>
                <a:ext uri="{FF2B5EF4-FFF2-40B4-BE49-F238E27FC236}">
                  <a16:creationId xmlns:a16="http://schemas.microsoft.com/office/drawing/2014/main" id="{110C32DF-7E88-F955-B432-22B998766613}"/>
                </a:ext>
              </a:extLst>
            </p:cNvPr>
            <p:cNvSpPr/>
            <p:nvPr/>
          </p:nvSpPr>
          <p:spPr>
            <a:xfrm>
              <a:off x="154708" y="2579257"/>
              <a:ext cx="1219201" cy="68348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  <a:alpha val="58000"/>
              </a:schemeClr>
            </a:solidFill>
            <a:ln w="22225">
              <a:solidFill>
                <a:schemeClr val="accent2">
                  <a:lumMod val="75000"/>
                  <a:alpha val="9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Start- Instroom</a:t>
              </a:r>
            </a:p>
          </p:txBody>
        </p:sp>
        <p:sp>
          <p:nvSpPr>
            <p:cNvPr id="11" name="Ruit 10">
              <a:extLst>
                <a:ext uri="{FF2B5EF4-FFF2-40B4-BE49-F238E27FC236}">
                  <a16:creationId xmlns:a16="http://schemas.microsoft.com/office/drawing/2014/main" id="{E84C31D8-B285-863A-344C-BC205A0262D2}"/>
                </a:ext>
              </a:extLst>
            </p:cNvPr>
            <p:cNvSpPr/>
            <p:nvPr/>
          </p:nvSpPr>
          <p:spPr>
            <a:xfrm>
              <a:off x="1868055" y="2500746"/>
              <a:ext cx="1450110" cy="840509"/>
            </a:xfrm>
            <a:prstGeom prst="diamond">
              <a:avLst/>
            </a:prstGeom>
            <a:solidFill>
              <a:schemeClr val="accent1">
                <a:alpha val="62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Jaar 1</a:t>
              </a:r>
            </a:p>
          </p:txBody>
        </p:sp>
        <p:sp>
          <p:nvSpPr>
            <p:cNvPr id="12" name="Ruit 11">
              <a:extLst>
                <a:ext uri="{FF2B5EF4-FFF2-40B4-BE49-F238E27FC236}">
                  <a16:creationId xmlns:a16="http://schemas.microsoft.com/office/drawing/2014/main" id="{845B07AD-EBF2-8994-2421-523A7CE502C5}"/>
                </a:ext>
              </a:extLst>
            </p:cNvPr>
            <p:cNvSpPr/>
            <p:nvPr/>
          </p:nvSpPr>
          <p:spPr>
            <a:xfrm>
              <a:off x="3812311" y="2500746"/>
              <a:ext cx="1450110" cy="840509"/>
            </a:xfrm>
            <a:prstGeom prst="diamond">
              <a:avLst/>
            </a:prstGeom>
            <a:solidFill>
              <a:schemeClr val="accent1">
                <a:alpha val="62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Jaar 2</a:t>
              </a:r>
            </a:p>
          </p:txBody>
        </p:sp>
        <p:sp>
          <p:nvSpPr>
            <p:cNvPr id="13" name="Ruit 12">
              <a:extLst>
                <a:ext uri="{FF2B5EF4-FFF2-40B4-BE49-F238E27FC236}">
                  <a16:creationId xmlns:a16="http://schemas.microsoft.com/office/drawing/2014/main" id="{49CB442A-8291-FE8C-9511-F4D83A13353E}"/>
                </a:ext>
              </a:extLst>
            </p:cNvPr>
            <p:cNvSpPr/>
            <p:nvPr/>
          </p:nvSpPr>
          <p:spPr>
            <a:xfrm>
              <a:off x="5756567" y="2500746"/>
              <a:ext cx="1450110" cy="840509"/>
            </a:xfrm>
            <a:prstGeom prst="diamond">
              <a:avLst/>
            </a:prstGeom>
            <a:solidFill>
              <a:schemeClr val="accent1">
                <a:alpha val="62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Jaar 3</a:t>
              </a:r>
            </a:p>
          </p:txBody>
        </p:sp>
        <p:sp>
          <p:nvSpPr>
            <p:cNvPr id="14" name="Ruit 13">
              <a:extLst>
                <a:ext uri="{FF2B5EF4-FFF2-40B4-BE49-F238E27FC236}">
                  <a16:creationId xmlns:a16="http://schemas.microsoft.com/office/drawing/2014/main" id="{88F1261C-66C8-C07E-865E-A671B661AAB6}"/>
                </a:ext>
              </a:extLst>
            </p:cNvPr>
            <p:cNvSpPr/>
            <p:nvPr/>
          </p:nvSpPr>
          <p:spPr>
            <a:xfrm>
              <a:off x="7700823" y="2500746"/>
              <a:ext cx="1450110" cy="840509"/>
            </a:xfrm>
            <a:prstGeom prst="diamond">
              <a:avLst/>
            </a:prstGeom>
            <a:solidFill>
              <a:schemeClr val="accent1">
                <a:alpha val="62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Jaar 4</a:t>
              </a:r>
            </a:p>
          </p:txBody>
        </p:sp>
        <p:sp>
          <p:nvSpPr>
            <p:cNvPr id="15" name="Ruit 14">
              <a:extLst>
                <a:ext uri="{FF2B5EF4-FFF2-40B4-BE49-F238E27FC236}">
                  <a16:creationId xmlns:a16="http://schemas.microsoft.com/office/drawing/2014/main" id="{3482C019-EE42-486E-A726-610DD37F89CD}"/>
                </a:ext>
              </a:extLst>
            </p:cNvPr>
            <p:cNvSpPr/>
            <p:nvPr/>
          </p:nvSpPr>
          <p:spPr>
            <a:xfrm>
              <a:off x="9645079" y="2500746"/>
              <a:ext cx="1450110" cy="840509"/>
            </a:xfrm>
            <a:prstGeom prst="diamond">
              <a:avLst/>
            </a:prstGeom>
            <a:solidFill>
              <a:schemeClr val="accent1">
                <a:alpha val="62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Jaar 5</a:t>
              </a:r>
            </a:p>
          </p:txBody>
        </p:sp>
        <p:cxnSp>
          <p:nvCxnSpPr>
            <p:cNvPr id="16" name="Rechte verbindingslijn met pijl 15">
              <a:extLst>
                <a:ext uri="{FF2B5EF4-FFF2-40B4-BE49-F238E27FC236}">
                  <a16:creationId xmlns:a16="http://schemas.microsoft.com/office/drawing/2014/main" id="{540ED994-558B-CD4D-9BA9-657E6A5787FA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flipV="1">
              <a:off x="1373909" y="2921001"/>
              <a:ext cx="494146" cy="1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Rechte verbindingslijn met pijl 16">
              <a:extLst>
                <a:ext uri="{FF2B5EF4-FFF2-40B4-BE49-F238E27FC236}">
                  <a16:creationId xmlns:a16="http://schemas.microsoft.com/office/drawing/2014/main" id="{0CBA0982-B672-C308-C8C3-32A17FE66572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>
              <a:off x="3318165" y="2921001"/>
              <a:ext cx="494146" cy="0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Rechte verbindingslijn met pijl 17">
              <a:extLst>
                <a:ext uri="{FF2B5EF4-FFF2-40B4-BE49-F238E27FC236}">
                  <a16:creationId xmlns:a16="http://schemas.microsoft.com/office/drawing/2014/main" id="{3E5C697F-1D12-B2AA-B1C8-0615497AF2EC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5262421" y="2921001"/>
              <a:ext cx="494146" cy="0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Rechte verbindingslijn met pijl 18">
              <a:extLst>
                <a:ext uri="{FF2B5EF4-FFF2-40B4-BE49-F238E27FC236}">
                  <a16:creationId xmlns:a16="http://schemas.microsoft.com/office/drawing/2014/main" id="{21B514F2-D943-4D17-4CDA-99606F4FA0EF}"/>
                </a:ext>
              </a:extLst>
            </p:cNvPr>
            <p:cNvCxnSpPr>
              <a:cxnSpLocks/>
            </p:cNvCxnSpPr>
            <p:nvPr/>
          </p:nvCxnSpPr>
          <p:spPr>
            <a:xfrm>
              <a:off x="7206677" y="2921000"/>
              <a:ext cx="494146" cy="0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Rechte verbindingslijn met pijl 19">
              <a:extLst>
                <a:ext uri="{FF2B5EF4-FFF2-40B4-BE49-F238E27FC236}">
                  <a16:creationId xmlns:a16="http://schemas.microsoft.com/office/drawing/2014/main" id="{A7038B11-5315-28F2-CFC7-8C26C3FB4BA9}"/>
                </a:ext>
              </a:extLst>
            </p:cNvPr>
            <p:cNvCxnSpPr>
              <a:cxnSpLocks/>
            </p:cNvCxnSpPr>
            <p:nvPr/>
          </p:nvCxnSpPr>
          <p:spPr>
            <a:xfrm>
              <a:off x="9150933" y="2921000"/>
              <a:ext cx="494146" cy="0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Rechthoek: afgeronde hoeken 20">
              <a:extLst>
                <a:ext uri="{FF2B5EF4-FFF2-40B4-BE49-F238E27FC236}">
                  <a16:creationId xmlns:a16="http://schemas.microsoft.com/office/drawing/2014/main" id="{A1A5E6AE-641A-CCCC-49A8-5843A816C399}"/>
                </a:ext>
              </a:extLst>
            </p:cNvPr>
            <p:cNvSpPr/>
            <p:nvPr/>
          </p:nvSpPr>
          <p:spPr>
            <a:xfrm>
              <a:off x="5872020" y="4680529"/>
              <a:ext cx="1219201" cy="68348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  <a:alpha val="58000"/>
              </a:schemeClr>
            </a:solidFill>
            <a:ln w="22225">
              <a:solidFill>
                <a:schemeClr val="accent2">
                  <a:lumMod val="75000"/>
                  <a:alpha val="9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Uitstroom</a:t>
              </a:r>
            </a:p>
          </p:txBody>
        </p:sp>
        <p:cxnSp>
          <p:nvCxnSpPr>
            <p:cNvPr id="22" name="Rechte verbindingslijn met pijl 21">
              <a:extLst>
                <a:ext uri="{FF2B5EF4-FFF2-40B4-BE49-F238E27FC236}">
                  <a16:creationId xmlns:a16="http://schemas.microsoft.com/office/drawing/2014/main" id="{A7FDB711-9B41-04D8-A078-87989FE399E5}"/>
                </a:ext>
              </a:extLst>
            </p:cNvPr>
            <p:cNvCxnSpPr>
              <a:cxnSpLocks/>
            </p:cNvCxnSpPr>
            <p:nvPr/>
          </p:nvCxnSpPr>
          <p:spPr>
            <a:xfrm>
              <a:off x="2593110" y="5216238"/>
              <a:ext cx="3278910" cy="0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Rechte verbindingslijn 22">
              <a:extLst>
                <a:ext uri="{FF2B5EF4-FFF2-40B4-BE49-F238E27FC236}">
                  <a16:creationId xmlns:a16="http://schemas.microsoft.com/office/drawing/2014/main" id="{8399E4DF-A0F0-C132-EE29-5FC5ACDF1833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2593110" y="3341255"/>
              <a:ext cx="0" cy="1874983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Rechte verbindingslijn 23">
              <a:extLst>
                <a:ext uri="{FF2B5EF4-FFF2-40B4-BE49-F238E27FC236}">
                  <a16:creationId xmlns:a16="http://schemas.microsoft.com/office/drawing/2014/main" id="{9014F84B-E291-D65C-EC00-E6C0C237FB90}"/>
                </a:ext>
              </a:extLst>
            </p:cNvPr>
            <p:cNvCxnSpPr>
              <a:cxnSpLocks/>
            </p:cNvCxnSpPr>
            <p:nvPr/>
          </p:nvCxnSpPr>
          <p:spPr>
            <a:xfrm>
              <a:off x="4537366" y="3341255"/>
              <a:ext cx="0" cy="1681019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Rechte verbindingslijn met pijl 24">
              <a:extLst>
                <a:ext uri="{FF2B5EF4-FFF2-40B4-BE49-F238E27FC236}">
                  <a16:creationId xmlns:a16="http://schemas.microsoft.com/office/drawing/2014/main" id="{D857D899-956D-A72E-4110-7C3DB89E9745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4537366" y="5022273"/>
              <a:ext cx="1334654" cy="1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Rechte verbindingslijn met pijl 25">
              <a:extLst>
                <a:ext uri="{FF2B5EF4-FFF2-40B4-BE49-F238E27FC236}">
                  <a16:creationId xmlns:a16="http://schemas.microsoft.com/office/drawing/2014/main" id="{3B2D4EB8-FB73-4EBB-72C3-EFE2BEB0D4FF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6481620" y="3341255"/>
              <a:ext cx="1" cy="1339274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Rechte verbindingslijn 26">
              <a:extLst>
                <a:ext uri="{FF2B5EF4-FFF2-40B4-BE49-F238E27FC236}">
                  <a16:creationId xmlns:a16="http://schemas.microsoft.com/office/drawing/2014/main" id="{B414F7D8-A9AF-193C-E073-DEFA35D9EB3A}"/>
                </a:ext>
              </a:extLst>
            </p:cNvPr>
            <p:cNvCxnSpPr>
              <a:cxnSpLocks/>
            </p:cNvCxnSpPr>
            <p:nvPr/>
          </p:nvCxnSpPr>
          <p:spPr>
            <a:xfrm>
              <a:off x="8425878" y="3341255"/>
              <a:ext cx="0" cy="1581727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Rechte verbindingslijn met pijl 27">
              <a:extLst>
                <a:ext uri="{FF2B5EF4-FFF2-40B4-BE49-F238E27FC236}">
                  <a16:creationId xmlns:a16="http://schemas.microsoft.com/office/drawing/2014/main" id="{3109CA1A-6C77-66DF-3ED8-6E5FE4D73F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91221" y="4922982"/>
              <a:ext cx="1334653" cy="0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Rechte verbindingslijn met pijl 28">
              <a:extLst>
                <a:ext uri="{FF2B5EF4-FFF2-40B4-BE49-F238E27FC236}">
                  <a16:creationId xmlns:a16="http://schemas.microsoft.com/office/drawing/2014/main" id="{AA6BCF2C-E7DF-21CD-06FD-DD9F0603AD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91220" y="5216238"/>
              <a:ext cx="3276610" cy="0"/>
            </a:xfrm>
            <a:prstGeom prst="straightConnector1">
              <a:avLst/>
            </a:prstGeom>
            <a:ln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Rechte verbindingslijn 29">
              <a:extLst>
                <a:ext uri="{FF2B5EF4-FFF2-40B4-BE49-F238E27FC236}">
                  <a16:creationId xmlns:a16="http://schemas.microsoft.com/office/drawing/2014/main" id="{5F161180-B4A0-03C7-9203-D410AE542490}"/>
                </a:ext>
              </a:extLst>
            </p:cNvPr>
            <p:cNvCxnSpPr>
              <a:cxnSpLocks/>
            </p:cNvCxnSpPr>
            <p:nvPr/>
          </p:nvCxnSpPr>
          <p:spPr>
            <a:xfrm>
              <a:off x="10367830" y="3341255"/>
              <a:ext cx="2304" cy="1874983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kstvak 30">
              <a:extLst>
                <a:ext uri="{FF2B5EF4-FFF2-40B4-BE49-F238E27FC236}">
                  <a16:creationId xmlns:a16="http://schemas.microsoft.com/office/drawing/2014/main" id="{F8D316D5-7851-8985-0DBA-DE3FDFB9996C}"/>
                </a:ext>
              </a:extLst>
            </p:cNvPr>
            <p:cNvSpPr txBox="1"/>
            <p:nvPr/>
          </p:nvSpPr>
          <p:spPr>
            <a:xfrm>
              <a:off x="1542473" y="387003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nl-NL" dirty="0"/>
            </a:p>
          </p:txBody>
        </p:sp>
      </p:grpSp>
      <p:sp>
        <p:nvSpPr>
          <p:cNvPr id="4" name="Tekstvak 3">
            <a:extLst>
              <a:ext uri="{FF2B5EF4-FFF2-40B4-BE49-F238E27FC236}">
                <a16:creationId xmlns:a16="http://schemas.microsoft.com/office/drawing/2014/main" id="{85631541-036F-F00D-3C7F-A00DE7C6DF24}"/>
              </a:ext>
            </a:extLst>
          </p:cNvPr>
          <p:cNvSpPr txBox="1"/>
          <p:nvPr/>
        </p:nvSpPr>
        <p:spPr>
          <a:xfrm>
            <a:off x="3503680" y="2349645"/>
            <a:ext cx="901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75% </a:t>
            </a:r>
          </a:p>
        </p:txBody>
      </p:sp>
      <p:sp>
        <p:nvSpPr>
          <p:cNvPr id="32" name="Tekstvak 31">
            <a:extLst>
              <a:ext uri="{FF2B5EF4-FFF2-40B4-BE49-F238E27FC236}">
                <a16:creationId xmlns:a16="http://schemas.microsoft.com/office/drawing/2014/main" id="{04120B2A-0737-7275-3F8C-C6ED991CA3C8}"/>
              </a:ext>
            </a:extLst>
          </p:cNvPr>
          <p:cNvSpPr txBox="1"/>
          <p:nvPr/>
        </p:nvSpPr>
        <p:spPr>
          <a:xfrm>
            <a:off x="2866534" y="3841244"/>
            <a:ext cx="901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25% 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37E069B2-6A5D-BE8B-8A79-0621FCCFBC6F}"/>
              </a:ext>
            </a:extLst>
          </p:cNvPr>
          <p:cNvSpPr txBox="1"/>
          <p:nvPr/>
        </p:nvSpPr>
        <p:spPr>
          <a:xfrm>
            <a:off x="5637410" y="2317173"/>
            <a:ext cx="901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 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B59E51F7-8FCE-4050-C47F-BA63FAD5C354}"/>
              </a:ext>
            </a:extLst>
          </p:cNvPr>
          <p:cNvSpPr txBox="1"/>
          <p:nvPr/>
        </p:nvSpPr>
        <p:spPr>
          <a:xfrm>
            <a:off x="4926935" y="3832059"/>
            <a:ext cx="901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 </a:t>
            </a:r>
          </a:p>
        </p:txBody>
      </p:sp>
      <p:sp>
        <p:nvSpPr>
          <p:cNvPr id="35" name="Tekstvak 34">
            <a:extLst>
              <a:ext uri="{FF2B5EF4-FFF2-40B4-BE49-F238E27FC236}">
                <a16:creationId xmlns:a16="http://schemas.microsoft.com/office/drawing/2014/main" id="{2812211A-6FEF-D760-515F-23AB26960E05}"/>
              </a:ext>
            </a:extLst>
          </p:cNvPr>
          <p:cNvSpPr txBox="1"/>
          <p:nvPr/>
        </p:nvSpPr>
        <p:spPr>
          <a:xfrm>
            <a:off x="9707822" y="2349643"/>
            <a:ext cx="901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30% </a:t>
            </a: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719BC35A-A14C-DCFC-DCF1-14B139014104}"/>
              </a:ext>
            </a:extLst>
          </p:cNvPr>
          <p:cNvSpPr txBox="1"/>
          <p:nvPr/>
        </p:nvSpPr>
        <p:spPr>
          <a:xfrm>
            <a:off x="6987336" y="3872734"/>
            <a:ext cx="901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 </a:t>
            </a:r>
          </a:p>
        </p:txBody>
      </p:sp>
      <p:sp>
        <p:nvSpPr>
          <p:cNvPr id="37" name="Tekstvak 36">
            <a:extLst>
              <a:ext uri="{FF2B5EF4-FFF2-40B4-BE49-F238E27FC236}">
                <a16:creationId xmlns:a16="http://schemas.microsoft.com/office/drawing/2014/main" id="{FB2936C5-6A39-1007-C38C-E20DC54023B4}"/>
              </a:ext>
            </a:extLst>
          </p:cNvPr>
          <p:cNvSpPr txBox="1"/>
          <p:nvPr/>
        </p:nvSpPr>
        <p:spPr>
          <a:xfrm>
            <a:off x="7695704" y="2349644"/>
            <a:ext cx="901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 </a:t>
            </a: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40021DF5-995D-4F20-EF2B-5EB926934B2C}"/>
              </a:ext>
            </a:extLst>
          </p:cNvPr>
          <p:cNvSpPr txBox="1"/>
          <p:nvPr/>
        </p:nvSpPr>
        <p:spPr>
          <a:xfrm>
            <a:off x="9045292" y="3819795"/>
            <a:ext cx="901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70% 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84D26A49-E642-2B31-2C1A-6E8616FE5989}"/>
              </a:ext>
            </a:extLst>
          </p:cNvPr>
          <p:cNvSpPr txBox="1"/>
          <p:nvPr/>
        </p:nvSpPr>
        <p:spPr>
          <a:xfrm>
            <a:off x="11113029" y="3779838"/>
            <a:ext cx="10765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 </a:t>
            </a:r>
          </a:p>
        </p:txBody>
      </p:sp>
    </p:spTree>
    <p:extLst>
      <p:ext uri="{BB962C8B-B14F-4D97-AF65-F5344CB8AC3E}">
        <p14:creationId xmlns:p14="http://schemas.microsoft.com/office/powerpoint/2010/main" val="355684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13072B0-635F-BDA5-4DA9-79378901C9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5675" y="83109"/>
            <a:ext cx="10947460" cy="870698"/>
          </a:xfrm>
        </p:spPr>
        <p:txBody>
          <a:bodyPr/>
          <a:lstStyle/>
          <a:p>
            <a:r>
              <a:rPr lang="nl-NL" dirty="0"/>
              <a:t>Modellen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62A8D36-9603-3AC8-4508-EDF37E9129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5675" y="953807"/>
            <a:ext cx="10947460" cy="4563453"/>
          </a:xfrm>
        </p:spPr>
        <p:txBody>
          <a:bodyPr/>
          <a:lstStyle/>
          <a:p>
            <a:pPr marL="0" indent="0">
              <a:buNone/>
            </a:pPr>
            <a:r>
              <a:rPr lang="nl-NL" sz="2000" b="1" dirty="0"/>
              <a:t>Model 1 :Stationary Markov Chain</a:t>
            </a:r>
            <a:endParaRPr lang="nl-NL" sz="2000" dirty="0"/>
          </a:p>
          <a:p>
            <a:r>
              <a:rPr lang="nl-NL" sz="2000" dirty="0"/>
              <a:t>Overgangskansen zijn gebaseerd op historische data</a:t>
            </a:r>
          </a:p>
          <a:p>
            <a:r>
              <a:rPr lang="nl-NL" sz="2000" dirty="0"/>
              <a:t>Eenvoudig en basismodel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b="1" dirty="0"/>
              <a:t>Model 2:Non- Stationary Markov Chain + Lineaire Regressie</a:t>
            </a:r>
            <a:endParaRPr lang="nl-NL" sz="2000" dirty="0"/>
          </a:p>
          <a:p>
            <a:r>
              <a:rPr lang="nl-NL" sz="2000" dirty="0"/>
              <a:t>Overgangskansen worden voorspeld met een trend. </a:t>
            </a:r>
          </a:p>
          <a:p>
            <a:r>
              <a:rPr lang="nl-NL" sz="2000" dirty="0"/>
              <a:t>Houdt rekening met geleidelijke veranderingen door de tijd. </a:t>
            </a:r>
          </a:p>
          <a:p>
            <a:r>
              <a:rPr lang="nl-NL" sz="2000" dirty="0"/>
              <a:t>Geschikt wanneer doorstroom of uitstroom een duidelijke stijgende of dalende trend laat zien. </a:t>
            </a:r>
          </a:p>
          <a:p>
            <a:endParaRPr lang="nl-NL" sz="2400" dirty="0"/>
          </a:p>
          <a:p>
            <a:pPr marL="0" indent="0">
              <a:buNone/>
            </a:pPr>
            <a:r>
              <a:rPr lang="nl-NL" sz="2000" b="1" dirty="0"/>
              <a:t>Model 3: Non- Stationary Markov Chain + Exponential Smoothing</a:t>
            </a:r>
            <a:endParaRPr lang="nl-NL" sz="2000" dirty="0"/>
          </a:p>
          <a:p>
            <a:r>
              <a:rPr lang="nl-NL" sz="2000" dirty="0"/>
              <a:t>Meer gewicht voor recente jaren. </a:t>
            </a:r>
          </a:p>
          <a:p>
            <a:r>
              <a:rPr lang="nl-NL" sz="2000" dirty="0"/>
              <a:t>Reageert sneller op nieuwe ontwikkelingen. </a:t>
            </a:r>
          </a:p>
          <a:p>
            <a:r>
              <a:rPr lang="nl-NL" sz="2000" dirty="0"/>
              <a:t>Geschikt wanneer recente veranderingen belangrijker zijn dan oudere patronen.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416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F9E424F-8B13-EAE5-C771-AC0FC8BE6B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5415A79-61B7-31C4-8475-22348D565C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9141148"/>
      </p:ext>
    </p:extLst>
  </p:cSld>
  <p:clrMapOvr>
    <a:masterClrMapping/>
  </p:clrMapOvr>
</p:sld>
</file>

<file path=ppt/theme/theme1.xml><?xml version="1.0" encoding="utf-8"?>
<a:theme xmlns:a="http://schemas.openxmlformats.org/drawingml/2006/main" name="Corporate powerpoi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8C06BDB8-5408-4631-ABE8-10AFEDDECBF5}" vid="{89CE7468-A01B-4415-8289-537F94EE6110}"/>
    </a:ext>
  </a:extLst>
</a:theme>
</file>

<file path=ppt/theme/theme2.xml><?xml version="1.0" encoding="utf-8"?>
<a:theme xmlns:a="http://schemas.openxmlformats.org/drawingml/2006/main" name="Optionele dia'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8C06BDB8-5408-4631-ABE8-10AFEDDECBF5}" vid="{F3B6017C-0E6E-414B-BD44-5858EAF25A36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67247BBF283642A983A77FAD1096CF" ma:contentTypeVersion="4" ma:contentTypeDescription="Een nieuw document maken." ma:contentTypeScope="" ma:versionID="67bdb5160bee234964496286da91ff57">
  <xsd:schema xmlns:xsd="http://www.w3.org/2001/XMLSchema" xmlns:xs="http://www.w3.org/2001/XMLSchema" xmlns:p="http://schemas.microsoft.com/office/2006/metadata/properties" xmlns:ns2="4e76d966-3f15-47be-bad1-fdff122ad5d0" targetNamespace="http://schemas.microsoft.com/office/2006/metadata/properties" ma:root="true" ma:fieldsID="f14a7e9e99ffd718c6ea31c74d1c0982" ns2:_="">
    <xsd:import namespace="4e76d966-3f15-47be-bad1-fdff122ad5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76d966-3f15-47be-bad1-fdff122ad5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792F09-DED7-4AE7-A18F-EFE91861FD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76d966-3f15-47be-bad1-fdff122ad5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6C63CA-1D05-4748-95DA-878DCB87FB43}">
  <ds:schemaRefs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dcmitype/"/>
    <ds:schemaRef ds:uri="1879a120-0c94-43e9-adb6-38c9b6abfd01"/>
    <ds:schemaRef ds:uri="http://schemas.openxmlformats.org/package/2006/metadata/core-properties"/>
    <ds:schemaRef ds:uri="http://schemas.microsoft.com/office/2006/metadata/properties"/>
    <ds:schemaRef ds:uri="334da25e-e784-4428-a57d-e138bc0c18a5"/>
    <ds:schemaRef ds:uri="http://www.w3.org/XML/1998/namespace"/>
    <ds:schemaRef ds:uri="43de1e7b-4294-4503-850d-0bed095e240d"/>
    <ds:schemaRef ds:uri="96ba3769-4a9c-4164-9c27-a61a233b5d50"/>
  </ds:schemaRefs>
</ds:datastoreItem>
</file>

<file path=customXml/itemProps3.xml><?xml version="1.0" encoding="utf-8"?>
<ds:datastoreItem xmlns:ds="http://schemas.openxmlformats.org/officeDocument/2006/customXml" ds:itemID="{FA4C8977-0A94-4372-A169-9BE43F9BBE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Albeda (corporate)</Template>
  <TotalTime>0</TotalTime>
  <Words>420</Words>
  <Application>Microsoft Office PowerPoint</Application>
  <PresentationFormat>Breedbeeld</PresentationFormat>
  <Paragraphs>120</Paragraphs>
  <Slides>10</Slides>
  <Notes>9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10</vt:i4>
      </vt:variant>
    </vt:vector>
  </HeadingPairs>
  <TitlesOfParts>
    <vt:vector size="15" baseType="lpstr">
      <vt:lpstr>Aptos</vt:lpstr>
      <vt:lpstr>Arial</vt:lpstr>
      <vt:lpstr>Courier New</vt:lpstr>
      <vt:lpstr>Corporate powerpoint</vt:lpstr>
      <vt:lpstr>Optionele dia's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Hibo Musse</dc:creator>
  <cp:lastModifiedBy>Hibo Musse</cp:lastModifiedBy>
  <cp:revision>4</cp:revision>
  <dcterms:created xsi:type="dcterms:W3CDTF">2026-06-03T07:16:20Z</dcterms:created>
  <dcterms:modified xsi:type="dcterms:W3CDTF">2026-07-10T11:58:42Z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0x0101005B67247BBF283642A983A77FAD1096CF</vt:lpwstr>
  </property>
</Properties>
</file>